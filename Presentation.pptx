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86814a0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86814a0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c86814a0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c86814a0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c86814a05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c86814a05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86814a05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86814a05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86814a05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c86814a05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86814a05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c86814a05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86814a05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c86814a05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86814a05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c86814a05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c86814a05_0_2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c86814a05_0_2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c86814a05_0_2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c86814a05_0_2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86814a05_0_2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c86814a05_0_2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c86814a05_0_2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c86814a05_0_2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86814a05_0_2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c86814a05_0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86814a05_0_2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c86814a05_0_2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c86814a05_0_2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c86814a05_0_2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c86814a05_0_2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c86814a05_0_2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86814a05_6_0)">
  <p:cSld name="Generated (g3ec86814a05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285750" y="-666750"/>
            <a:ext cx="10096500" cy="6096000"/>
            <a:chOff x="-285750" y="-666750"/>
            <a:chExt cx="10096500" cy="60960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4000" y="133350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4"/>
            <p:cNvSpPr/>
            <p:nvPr/>
          </p:nvSpPr>
          <p:spPr>
            <a:xfrm>
              <a:off x="-285750" y="3905250"/>
              <a:ext cx="1524000" cy="1524000"/>
            </a:xfrm>
            <a:prstGeom prst="ellipse">
              <a:avLst/>
            </a:prstGeom>
            <a:solidFill>
              <a:srgbClr val="DBEAFE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7524750" y="-666750"/>
              <a:ext cx="2286000" cy="2286000"/>
            </a:xfrm>
            <a:prstGeom prst="ellipse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14"/>
          <p:cNvSpPr txBox="1"/>
          <p:nvPr>
            <p:ph type="ctrTitle"/>
          </p:nvPr>
        </p:nvSpPr>
        <p:spPr>
          <a:xfrm>
            <a:off x="762000" y="17145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Finsight Orchestrator</a:t>
            </a:r>
            <a:endParaRPr b="1" sz="58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762000" y="28575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Frank Xiao</a:t>
            </a:r>
            <a:endParaRPr b="0"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095750" y="3619500"/>
            <a:ext cx="9525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381000" y="381000"/>
            <a:ext cx="8382000" cy="666750"/>
            <a:chOff x="0" y="0"/>
            <a:chExt cx="8382000" cy="666750"/>
          </a:xfrm>
        </p:grpSpPr>
        <p:sp>
          <p:nvSpPr>
            <p:cNvPr id="69" name="Google Shape;69;p15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Motivation: The Complexity of Financial Data</a:t>
              </a:r>
              <a:endParaRPr b="1" sz="2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" name="Google Shape;70;p15"/>
            <p:cNvCxnSpPr/>
            <p:nvPr/>
          </p:nvCxnSpPr>
          <p:spPr>
            <a:xfrm>
              <a:off x="0" y="66675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1" name="Google Shape;71;p15"/>
          <p:cNvGrpSpPr/>
          <p:nvPr/>
        </p:nvGrpSpPr>
        <p:grpSpPr>
          <a:xfrm>
            <a:off x="376238" y="1328738"/>
            <a:ext cx="4010100" cy="3248100"/>
            <a:chOff x="-4762" y="-4762"/>
            <a:chExt cx="4010100" cy="3248100"/>
          </a:xfrm>
        </p:grpSpPr>
        <p:pic>
          <p:nvPicPr>
            <p:cNvPr id="72" name="Google Shape;7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4010100" cy="32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5"/>
            <p:cNvSpPr txBox="1"/>
            <p:nvPr/>
          </p:nvSpPr>
          <p:spPr>
            <a:xfrm>
              <a:off x="190500" y="290703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59595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3600">
                <a:solidFill>
                  <a:srgbClr val="59595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90500" y="857250"/>
              <a:ext cx="3619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 Dimensionality Challenges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Financial datasets often aggregate hundreds of diverse indicators, including production data, consumption rates, and demographic context.</a:t>
              </a:r>
              <a:endParaRPr b="0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The sheer volume of variables creates a "noise" floor that obscures critical market signals and emerging trends during manual review.</a:t>
              </a:r>
              <a:endParaRPr b="0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4757738" y="1328738"/>
            <a:ext cx="4010100" cy="3248100"/>
            <a:chOff x="-4762" y="-4762"/>
            <a:chExt cx="4010100" cy="3248100"/>
          </a:xfrm>
        </p:grpSpPr>
        <p:pic>
          <p:nvPicPr>
            <p:cNvPr id="76" name="Google Shape;7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4010100" cy="32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5"/>
            <p:cNvSpPr txBox="1"/>
            <p:nvPr/>
          </p:nvSpPr>
          <p:spPr>
            <a:xfrm>
              <a:off x="190500" y="290703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59595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</a:t>
              </a:r>
              <a:endParaRPr sz="3600">
                <a:solidFill>
                  <a:srgbClr val="59595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90500" y="857250"/>
              <a:ext cx="3619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Limitations of Manual Analysis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Manual interpretation is prone to bias and struggles with statistical significance—confusing simple correlation with causality.</a:t>
              </a:r>
              <a:endParaRPr b="0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As data accuracy diminishes at granular levels (e.g., city vs. national), manual analysts find it difficult to maintain robust comparisons across time and geography.</a:t>
              </a:r>
              <a:endParaRPr b="0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6"/>
          <p:cNvGrpSpPr/>
          <p:nvPr/>
        </p:nvGrpSpPr>
        <p:grpSpPr>
          <a:xfrm>
            <a:off x="381000" y="285750"/>
            <a:ext cx="8382000" cy="666750"/>
            <a:chOff x="381000" y="285750"/>
            <a:chExt cx="8382000" cy="666750"/>
          </a:xfrm>
        </p:grpSpPr>
        <p:sp>
          <p:nvSpPr>
            <p:cNvPr id="84" name="Google Shape;84;p16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Finsight Orchestrator Architecture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" name="Google Shape;85;p16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6" name="Google Shape;86;p16"/>
          <p:cNvGrpSpPr/>
          <p:nvPr/>
        </p:nvGrpSpPr>
        <p:grpSpPr>
          <a:xfrm>
            <a:off x="381000" y="2095500"/>
            <a:ext cx="1333500" cy="952500"/>
            <a:chOff x="381000" y="2095500"/>
            <a:chExt cx="1333500" cy="952500"/>
          </a:xfrm>
        </p:grpSpPr>
        <p:sp>
          <p:nvSpPr>
            <p:cNvPr id="87" name="Google Shape;87;p16"/>
            <p:cNvSpPr/>
            <p:nvPr/>
          </p:nvSpPr>
          <p:spPr>
            <a:xfrm>
              <a:off x="381000" y="2095500"/>
              <a:ext cx="13335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381000" y="209550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b="1" sz="2220">
                <a:solidFill>
                  <a:srgbClr val="64748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User Question</a:t>
              </a:r>
              <a:endParaRPr b="1" sz="129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1714500" y="2524125"/>
            <a:ext cx="381000" cy="95400"/>
            <a:chOff x="1714500" y="2524125"/>
            <a:chExt cx="381000" cy="95400"/>
          </a:xfrm>
        </p:grpSpPr>
        <p:pic>
          <p:nvPicPr>
            <p:cNvPr id="90" name="Google Shape;9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14500" y="2562225"/>
              <a:ext cx="3810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19300" y="25241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16"/>
          <p:cNvGrpSpPr/>
          <p:nvPr/>
        </p:nvGrpSpPr>
        <p:grpSpPr>
          <a:xfrm>
            <a:off x="2095500" y="1857375"/>
            <a:ext cx="1524000" cy="1428900"/>
            <a:chOff x="2095500" y="1857375"/>
            <a:chExt cx="1524000" cy="1428900"/>
          </a:xfrm>
        </p:grpSpPr>
        <p:sp>
          <p:nvSpPr>
            <p:cNvPr id="93" name="Google Shape;93;p16"/>
            <p:cNvSpPr/>
            <p:nvPr/>
          </p:nvSpPr>
          <p:spPr>
            <a:xfrm>
              <a:off x="2095500" y="1857375"/>
              <a:ext cx="1524000" cy="14289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2095500" y="1857375"/>
              <a:ext cx="152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1"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Orchestrator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3619500" y="1857375"/>
            <a:ext cx="571500" cy="1428900"/>
            <a:chOff x="3619500" y="1857375"/>
            <a:chExt cx="571500" cy="1428900"/>
          </a:xfrm>
        </p:grpSpPr>
        <p:pic>
          <p:nvPicPr>
            <p:cNvPr id="96" name="Google Shape;96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619500" y="1895475"/>
              <a:ext cx="571500" cy="135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14800" y="185737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14800" y="319087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6"/>
          <p:cNvGrpSpPr/>
          <p:nvPr/>
        </p:nvGrpSpPr>
        <p:grpSpPr>
          <a:xfrm>
            <a:off x="4180050" y="1450725"/>
            <a:ext cx="1545900" cy="2410362"/>
            <a:chOff x="4191000" y="1333500"/>
            <a:chExt cx="1545900" cy="2410362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4212897" y="1333500"/>
              <a:ext cx="1524003" cy="952500"/>
              <a:chOff x="4212897" y="1333500"/>
              <a:chExt cx="1524003" cy="952500"/>
            </a:xfrm>
          </p:grpSpPr>
          <p:sp>
            <p:nvSpPr>
              <p:cNvPr id="101" name="Google Shape;101;p16"/>
              <p:cNvSpPr/>
              <p:nvPr/>
            </p:nvSpPr>
            <p:spPr>
              <a:xfrm>
                <a:off x="4212897" y="1333500"/>
                <a:ext cx="1524000" cy="952500"/>
              </a:xfrm>
              <a:prstGeom prst="roundRect">
                <a:avLst>
                  <a:gd fmla="val 12500" name="adj"/>
                </a:avLst>
              </a:prstGeom>
              <a:solidFill>
                <a:srgbClr val="F0FDF4"/>
              </a:solidFill>
              <a:ln cap="flat" cmpd="sng" w="19050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 txBox="1"/>
              <p:nvPr/>
            </p:nvSpPr>
            <p:spPr>
              <a:xfrm>
                <a:off x="4212900" y="1428750"/>
                <a:ext cx="152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6200" lIns="76200" spcFirstLastPara="1" rIns="76200" wrap="square" tIns="76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22C5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endParaRPr b="1" sz="20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Web Search Agent</a:t>
                </a:r>
                <a:endParaRPr b="1" sz="1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(DuckDuckGo)</a:t>
                </a:r>
                <a:endParaRPr b="1" sz="1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6"/>
            <p:cNvGrpSpPr/>
            <p:nvPr/>
          </p:nvGrpSpPr>
          <p:grpSpPr>
            <a:xfrm>
              <a:off x="4191000" y="2590362"/>
              <a:ext cx="1545900" cy="1153500"/>
              <a:chOff x="4191000" y="2590362"/>
              <a:chExt cx="1545900" cy="1153500"/>
            </a:xfrm>
          </p:grpSpPr>
          <p:sp>
            <p:nvSpPr>
              <p:cNvPr id="104" name="Google Shape;104;p16"/>
              <p:cNvSpPr/>
              <p:nvPr/>
            </p:nvSpPr>
            <p:spPr>
              <a:xfrm>
                <a:off x="4191000" y="2590362"/>
                <a:ext cx="1524000" cy="1153500"/>
              </a:xfrm>
              <a:prstGeom prst="roundRect">
                <a:avLst>
                  <a:gd fmla="val 12500" name="adj"/>
                </a:avLst>
              </a:prstGeom>
              <a:solidFill>
                <a:srgbClr val="F0FDF4"/>
              </a:solidFill>
              <a:ln cap="flat" cmpd="sng" w="19050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6"/>
              <p:cNvSpPr txBox="1"/>
              <p:nvPr/>
            </p:nvSpPr>
            <p:spPr>
              <a:xfrm>
                <a:off x="4212900" y="2651800"/>
                <a:ext cx="1524000" cy="10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6200" lIns="76200" spcFirstLastPara="1" rIns="76200" wrap="square" tIns="76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22C5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b="1" sz="20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Analytics Agent</a:t>
                </a:r>
                <a:endParaRPr b="1" sz="1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Reasoning</a:t>
                </a:r>
                <a:endParaRPr b="1" sz="1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Code Generation Execution)</a:t>
                </a:r>
                <a:endParaRPr b="1" sz="1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" name="Google Shape;106;p16"/>
          <p:cNvGrpSpPr/>
          <p:nvPr/>
        </p:nvGrpSpPr>
        <p:grpSpPr>
          <a:xfrm>
            <a:off x="6096000" y="2799925"/>
            <a:ext cx="1143000" cy="952500"/>
            <a:chOff x="6286500" y="2095500"/>
            <a:chExt cx="1143000" cy="952500"/>
          </a:xfrm>
        </p:grpSpPr>
        <p:sp>
          <p:nvSpPr>
            <p:cNvPr id="107" name="Google Shape;107;p16"/>
            <p:cNvSpPr/>
            <p:nvPr/>
          </p:nvSpPr>
          <p:spPr>
            <a:xfrm>
              <a:off x="6286500" y="2095500"/>
              <a:ext cx="1143000" cy="952500"/>
            </a:xfrm>
            <a:prstGeom prst="roundRect">
              <a:avLst>
                <a:gd fmla="val 12000" name="adj"/>
              </a:avLst>
            </a:prstGeom>
            <a:solidFill>
              <a:srgbClr val="FFF7ED"/>
            </a:solidFill>
            <a:ln cap="flat" cmpd="sng" w="19050">
              <a:solidFill>
                <a:srgbClr val="F97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6286500" y="2095500"/>
              <a:ext cx="114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b="1" sz="24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9A3412"/>
                  </a:solidFill>
                  <a:latin typeface="Arial"/>
                  <a:ea typeface="Arial"/>
                  <a:cs typeface="Arial"/>
                  <a:sym typeface="Arial"/>
                </a:rPr>
                <a:t>Validator</a:t>
              </a:r>
              <a:endParaRPr b="1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5715000" y="3228475"/>
            <a:ext cx="381000" cy="95400"/>
            <a:chOff x="7429500" y="2524125"/>
            <a:chExt cx="381000" cy="95400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9500" y="2562225"/>
              <a:ext cx="3810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34300" y="25241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6"/>
          <p:cNvGrpSpPr/>
          <p:nvPr/>
        </p:nvGrpSpPr>
        <p:grpSpPr>
          <a:xfrm>
            <a:off x="7810500" y="2095500"/>
            <a:ext cx="952500" cy="952500"/>
            <a:chOff x="7810500" y="2095500"/>
            <a:chExt cx="952500" cy="952500"/>
          </a:xfrm>
        </p:grpSpPr>
        <p:sp>
          <p:nvSpPr>
            <p:cNvPr id="113" name="Google Shape;113;p16"/>
            <p:cNvSpPr/>
            <p:nvPr/>
          </p:nvSpPr>
          <p:spPr>
            <a:xfrm>
              <a:off x="7810500" y="2095500"/>
              <a:ext cx="952500" cy="952500"/>
            </a:xfrm>
            <a:prstGeom prst="roundRect">
              <a:avLst>
                <a:gd fmla="val 50000" name="adj"/>
              </a:avLst>
            </a:prstGeom>
            <a:solidFill>
              <a:srgbClr val="FDF2F8"/>
            </a:solidFill>
            <a:ln cap="flat" cmpd="sng" w="19050">
              <a:solidFill>
                <a:srgbClr val="DB27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7810500" y="209550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DB277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task_alt</a:t>
              </a:r>
              <a:endParaRPr b="1" sz="2220">
                <a:solidFill>
                  <a:srgbClr val="DB277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9D174D"/>
                  </a:solidFill>
                  <a:latin typeface="Arial"/>
                  <a:ea typeface="Arial"/>
                  <a:cs typeface="Arial"/>
                  <a:sym typeface="Arial"/>
                </a:rPr>
                <a:t>Final Answer</a:t>
              </a:r>
              <a:endParaRPr b="1" sz="1110">
                <a:solidFill>
                  <a:srgbClr val="9D17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" name="Google Shape;1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1895475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0" y="2562225"/>
            <a:ext cx="5715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0" y="2524125"/>
            <a:ext cx="95400" cy="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381000" y="285750"/>
            <a:ext cx="8382000" cy="666750"/>
            <a:chOff x="381000" y="285750"/>
            <a:chExt cx="8382000" cy="666750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latin typeface="Arial"/>
                  <a:ea typeface="Arial"/>
                  <a:cs typeface="Arial"/>
                  <a:sym typeface="Arial"/>
                </a:rPr>
                <a:t>Analytic Loop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" name="Google Shape;125;p17"/>
          <p:cNvGrpSpPr/>
          <p:nvPr/>
        </p:nvGrpSpPr>
        <p:grpSpPr>
          <a:xfrm>
            <a:off x="1238250" y="1524000"/>
            <a:ext cx="7048500" cy="2319400"/>
            <a:chOff x="1238250" y="1524000"/>
            <a:chExt cx="7048500" cy="2319400"/>
          </a:xfrm>
        </p:grpSpPr>
        <p:grpSp>
          <p:nvGrpSpPr>
            <p:cNvPr id="126" name="Google Shape;126;p17"/>
            <p:cNvGrpSpPr/>
            <p:nvPr/>
          </p:nvGrpSpPr>
          <p:grpSpPr>
            <a:xfrm>
              <a:off x="1238250" y="1524000"/>
              <a:ext cx="1333500" cy="952500"/>
              <a:chOff x="0" y="0"/>
              <a:chExt cx="1333500" cy="952500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0" y="0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 txBox="1"/>
              <p:nvPr/>
            </p:nvSpPr>
            <p:spPr>
              <a:xfrm>
                <a:off x="0" y="0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search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Inspect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9" name="Google Shape;12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19375" y="1933575"/>
              <a:ext cx="666900" cy="13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0" name="Google Shape;130;p17"/>
            <p:cNvGrpSpPr/>
            <p:nvPr/>
          </p:nvGrpSpPr>
          <p:grpSpPr>
            <a:xfrm>
              <a:off x="3143250" y="1524000"/>
              <a:ext cx="1333500" cy="952500"/>
              <a:chOff x="0" y="0"/>
              <a:chExt cx="1333500" cy="952500"/>
            </a:xfrm>
          </p:grpSpPr>
          <p:sp>
            <p:nvSpPr>
              <p:cNvPr id="131" name="Google Shape;131;p17"/>
              <p:cNvSpPr/>
              <p:nvPr/>
            </p:nvSpPr>
            <p:spPr>
              <a:xfrm>
                <a:off x="0" y="0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7"/>
              <p:cNvSpPr txBox="1"/>
              <p:nvPr/>
            </p:nvSpPr>
            <p:spPr>
              <a:xfrm>
                <a:off x="0" y="0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Reason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3" name="Google Shape;13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4375" y="1933575"/>
              <a:ext cx="666900" cy="13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4" name="Google Shape;134;p17"/>
            <p:cNvGrpSpPr/>
            <p:nvPr/>
          </p:nvGrpSpPr>
          <p:grpSpPr>
            <a:xfrm>
              <a:off x="5048250" y="1524000"/>
              <a:ext cx="1333500" cy="952500"/>
              <a:chOff x="0" y="0"/>
              <a:chExt cx="1333500" cy="9525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0" y="0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0" y="0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endParaRPr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Execute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7" name="Google Shape;13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29375" y="1933575"/>
              <a:ext cx="666900" cy="13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" name="Google Shape;138;p17"/>
            <p:cNvGrpSpPr/>
            <p:nvPr/>
          </p:nvGrpSpPr>
          <p:grpSpPr>
            <a:xfrm>
              <a:off x="6953250" y="1524000"/>
              <a:ext cx="1333500" cy="952500"/>
              <a:chOff x="0" y="0"/>
              <a:chExt cx="1333500" cy="9525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0" y="0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 txBox="1"/>
              <p:nvPr/>
            </p:nvSpPr>
            <p:spPr>
              <a:xfrm>
                <a:off x="0" y="0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 sz="24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Observe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1" name="Google Shape;14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26675" y="2476500"/>
              <a:ext cx="1893300" cy="1019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" name="Google Shape;142;p17"/>
            <p:cNvGrpSpPr/>
            <p:nvPr/>
          </p:nvGrpSpPr>
          <p:grpSpPr>
            <a:xfrm>
              <a:off x="4593175" y="2890900"/>
              <a:ext cx="1333500" cy="952500"/>
              <a:chOff x="1164175" y="-109475"/>
              <a:chExt cx="1333500" cy="95250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1164175" y="-109475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1164175" y="-109475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Validate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5" name="Google Shape;14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26275" y="3300400"/>
              <a:ext cx="666900" cy="13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7"/>
            <p:cNvGrpSpPr/>
            <p:nvPr/>
          </p:nvGrpSpPr>
          <p:grpSpPr>
            <a:xfrm>
              <a:off x="2615750" y="2890900"/>
              <a:ext cx="1333500" cy="952500"/>
              <a:chOff x="1091750" y="-109475"/>
              <a:chExt cx="1333500" cy="952500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1091750" y="-109475"/>
                <a:ext cx="1333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 cap="flat" cmpd="sng" w="1905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1091750" y="-109475"/>
                <a:ext cx="1333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8B5C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replay</a:t>
                </a:r>
                <a:endParaRPr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Retry</a:t>
                </a:r>
                <a:endParaRPr b="1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8"/>
          <p:cNvGrpSpPr/>
          <p:nvPr/>
        </p:nvGrpSpPr>
        <p:grpSpPr>
          <a:xfrm>
            <a:off x="412725" y="191500"/>
            <a:ext cx="8382000" cy="979275"/>
            <a:chOff x="381000" y="-26775"/>
            <a:chExt cx="8382000" cy="979275"/>
          </a:xfrm>
        </p:grpSpPr>
        <p:sp>
          <p:nvSpPr>
            <p:cNvPr id="154" name="Google Shape;154;p18"/>
            <p:cNvSpPr txBox="1"/>
            <p:nvPr/>
          </p:nvSpPr>
          <p:spPr>
            <a:xfrm>
              <a:off x="381000" y="-26775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latin typeface="Arial"/>
                  <a:ea typeface="Arial"/>
                  <a:cs typeface="Arial"/>
                  <a:sym typeface="Arial"/>
                </a:rPr>
                <a:t>Example 1: Net Income Growth (2014–2018)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8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6" name="Google Shape;156;p18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Question: </a:t>
            </a:r>
            <a:r>
              <a:rPr lang="en" sz="1800">
                <a:solidFill>
                  <a:schemeClr val="dk2"/>
                </a:solidFill>
              </a:rPr>
              <a:t>Which sectors have the highest net income growth from 2014 to 2018?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Visualization: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700" y="2212998"/>
            <a:ext cx="6772675" cy="29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9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163" name="Google Shape;163;p19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latin typeface="Arial"/>
                  <a:ea typeface="Arial"/>
                  <a:cs typeface="Arial"/>
                  <a:sym typeface="Arial"/>
                </a:rPr>
                <a:t>Example 1: Net Income Growth (2014–2018)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19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19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Findings: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Consumer Cyclical  showed the strongest growth (+161%).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Real Estate and</a:t>
            </a:r>
            <a:r>
              <a:rPr lang="en" sz="1800">
                <a:solidFill>
                  <a:schemeClr val="dk2"/>
                </a:solidFill>
              </a:rPr>
              <a:t> Utilities also improved significantly.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Basic Materials and Healthcare experienced declines.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Conclusion:</a:t>
            </a:r>
            <a:br>
              <a:rPr b="1"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Some sectors experienced substantial profitability improvements over the five-year period.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412725" y="191500"/>
            <a:ext cx="8382000" cy="979275"/>
            <a:chOff x="381000" y="-26775"/>
            <a:chExt cx="8382000" cy="979275"/>
          </a:xfrm>
        </p:grpSpPr>
        <p:sp>
          <p:nvSpPr>
            <p:cNvPr id="171" name="Google Shape;171;p20"/>
            <p:cNvSpPr txBox="1"/>
            <p:nvPr/>
          </p:nvSpPr>
          <p:spPr>
            <a:xfrm>
              <a:off x="381000" y="-26775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latin typeface="Arial"/>
                  <a:ea typeface="Arial"/>
                  <a:cs typeface="Arial"/>
                  <a:sym typeface="Arial"/>
                </a:rPr>
                <a:t>Example 2: </a:t>
              </a:r>
              <a:r>
                <a:rPr b="1" lang="en" sz="3200">
                  <a:latin typeface="Arial"/>
                  <a:ea typeface="Arial"/>
                  <a:cs typeface="Arial"/>
                  <a:sym typeface="Arial"/>
                </a:rPr>
                <a:t>Free Cash Flow Growth (2014–2018)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" name="Google Shape;172;p20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3" name="Google Shape;173;p20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Questi</a:t>
            </a:r>
            <a:r>
              <a:rPr b="1" lang="en" sz="1800">
                <a:solidFill>
                  <a:schemeClr val="dk2"/>
                </a:solidFill>
              </a:rPr>
              <a:t>on: </a:t>
            </a:r>
            <a:r>
              <a:rPr lang="en" sz="1800">
                <a:solidFill>
                  <a:schemeClr val="dk2"/>
                </a:solidFill>
              </a:rPr>
              <a:t>Which sectors have the highest free cash flow growth from 2014 to 2018?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Visualization: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4" name="Google Shape;174;p20" title="newplo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125" y="2139175"/>
            <a:ext cx="6943313" cy="300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1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180" name="Google Shape;180;p21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2: Free Cash Flow Growth (2014–2018)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" name="Google Shape;181;p21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" name="Google Shape;182;p21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Findings: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Industrials</a:t>
            </a:r>
            <a:r>
              <a:rPr lang="en" sz="1800">
                <a:solidFill>
                  <a:schemeClr val="dk2"/>
                </a:solidFill>
              </a:rPr>
              <a:t> showed the largest improvement (+234%).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Financial Services and Basic Materials also improved.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Consumer Cyclical and Healthcare declined.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Conclusion: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Cash flow growth patterns differed from net income growth, showing the importance of analyzing multiple financial metrics.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2"/>
          <p:cNvGrpSpPr/>
          <p:nvPr/>
        </p:nvGrpSpPr>
        <p:grpSpPr>
          <a:xfrm>
            <a:off x="412725" y="191500"/>
            <a:ext cx="8382000" cy="979275"/>
            <a:chOff x="381000" y="-26775"/>
            <a:chExt cx="8382000" cy="979275"/>
          </a:xfrm>
        </p:grpSpPr>
        <p:sp>
          <p:nvSpPr>
            <p:cNvPr id="188" name="Google Shape;188;p22"/>
            <p:cNvSpPr txBox="1"/>
            <p:nvPr/>
          </p:nvSpPr>
          <p:spPr>
            <a:xfrm>
              <a:off x="381000" y="-26775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3: Financial Strength Analysis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" name="Google Shape;189;p22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0" name="Google Shape;190;p22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Question:</a:t>
            </a:r>
            <a:r>
              <a:rPr lang="en" sz="1800">
                <a:solidFill>
                  <a:schemeClr val="dk2"/>
                </a:solidFill>
              </a:rPr>
              <a:t> Which sectors have the greatest financial strength?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Visualization: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1" name="Google Shape;191;p22" title="newplo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825" y="1871300"/>
            <a:ext cx="7562415" cy="32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3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197" name="Google Shape;197;p2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3: </a:t>
              </a: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Financial Strength Analysis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23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9" name="Google Shape;199;p23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Findings: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Financial Services ranked highest.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Communication Services and Consumer Defensive also scored highly.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Healthcare ranked among the weakest sectors.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Conclusion: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Multi-factor evaluation provides a more comprehensive assessment than using a single metric.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205" name="Google Shape;205;p24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Validator Agent</a:t>
              </a: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" name="Google Shape;206;p24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7" name="Google Shape;207;p24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Validator Agent acts as an independent reasoning and checking component that evaluates the outputs generated by the Analytics Agent.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Examples of Detected Issues: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Wrong dataset/year selected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Wrong ranking direction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Missing financial metrics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Question partially answered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Wrong variables analyzed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5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213" name="Google Shape;213;p25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Validator Agent Finding Example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5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5" name="Google Shape;215;p25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2"/>
                </a:solidFill>
              </a:rPr>
              <a:t>Question:</a:t>
            </a:r>
            <a:r>
              <a:rPr lang="en" sz="1500">
                <a:solidFill>
                  <a:schemeClr val="dk2"/>
                </a:solidFill>
              </a:rPr>
              <a:t> Which sectors have the greatest financial strength?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2"/>
                </a:solidFill>
              </a:rPr>
              <a:t>Agent analysis result: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The financially strongest sectors from 2014 to 2018 were ranked using a composite score. The score rewards stronger revenue, net income, free cash flow, ROE, ROIC, and liquidity, and penalizes higher debt-to-equity.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2"/>
                </a:solidFill>
              </a:rPr>
              <a:t>Validator: 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Validation: The validator did not fully approve this analysis. Main concern(s): The execution trace has fewer than 3 steps, so the iterative reasoning/execution process is not well demonstrated. Recommended correction(s): Include inspect, execute, observe, plot, and finalize steps in the trace.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Retry Note: The validator requested a retry because the first analysis was incomplete or suspicious. The system reran the analytics agent using the same structured plan.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2"/>
                </a:solidFill>
              </a:rPr>
              <a:t>Conclusion: </a:t>
            </a:r>
            <a:r>
              <a:rPr lang="en" sz="1500">
                <a:solidFill>
                  <a:schemeClr val="dk2"/>
                </a:solidFill>
              </a:rPr>
              <a:t>Validation helps examine the analytic agent’s reasoning, execution, and result to improve reliability and reduces analytical errors.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6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221" name="Google Shape;221;p26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Lesson Learned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" name="Google Shape;222;p26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 txBox="1"/>
          <p:nvPr/>
        </p:nvSpPr>
        <p:spPr>
          <a:xfrm>
            <a:off x="448425" y="1170775"/>
            <a:ext cx="83820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" sz="1700">
                <a:solidFill>
                  <a:schemeClr val="dk2"/>
                </a:solidFill>
              </a:rPr>
              <a:t>Successful Outcomes: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Natural-language financial analytics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Automatic visualizations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Cross-year comparisons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Independent validation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" sz="1700">
                <a:solidFill>
                  <a:schemeClr val="dk2"/>
                </a:solidFill>
              </a:rPr>
              <a:t>Challenges: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Planner misinterpretation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Multi-part questions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Semantic understanding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Retry effectiveness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7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229" name="Google Shape;229;p27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Future Improvements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p27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1" name="Google Shape;231;p27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Potential Enhancements: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Stronger LLM planning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Better semantic validation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True corrective retries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Multi-table joins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Advanced statistical analysis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Improved handling of complex questions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Expected Result: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More robust and trustworthy analytics system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8"/>
          <p:cNvGrpSpPr/>
          <p:nvPr/>
        </p:nvGrpSpPr>
        <p:grpSpPr>
          <a:xfrm>
            <a:off x="381000" y="285750"/>
            <a:ext cx="8382000" cy="885025"/>
            <a:chOff x="381000" y="285750"/>
            <a:chExt cx="8382000" cy="885025"/>
          </a:xfrm>
        </p:grpSpPr>
        <p:sp>
          <p:nvSpPr>
            <p:cNvPr id="237" name="Google Shape;237;p28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" name="Google Shape;238;p28"/>
            <p:cNvCxnSpPr/>
            <p:nvPr/>
          </p:nvCxnSpPr>
          <p:spPr>
            <a:xfrm>
              <a:off x="381000" y="11707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9" name="Google Shape;239;p28"/>
          <p:cNvSpPr txBox="1"/>
          <p:nvPr/>
        </p:nvSpPr>
        <p:spPr>
          <a:xfrm>
            <a:off x="377025" y="1170775"/>
            <a:ext cx="84534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Summary: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Developed an orchestrated multi-agent analytics system.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Successfully performed financial analysis across 2014–2018 datasets.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Generated rankings, correlations, growth analyses, and visualizations.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Validator Agent improved reliability by detecting incomplete or incorrect analyses.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Key Takeaway: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Separating planning, execution, and validation creates a more trustworthy AI analytics workflow than a single-agent approach.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1750"/>
            <a:ext cx="9144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/>
          <p:nvPr/>
        </p:nvSpPr>
        <p:spPr>
          <a:xfrm>
            <a:off x="4000500" y="3619500"/>
            <a:ext cx="1143000" cy="381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381000" y="142875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5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381000" y="27622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For your time and attention</a:t>
            </a:r>
            <a:endParaRPr b="0"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4381500" y="4191000"/>
            <a:ext cx="381000" cy="3810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4850" y="4333875"/>
            <a:ext cx="114300" cy="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